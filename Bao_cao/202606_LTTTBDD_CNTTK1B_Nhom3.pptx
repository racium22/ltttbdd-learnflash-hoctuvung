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4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E0"/>
    <a:srgbClr val="FF5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7839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2940632"/>
            <a:ext cx="6400800" cy="6400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EC16B65A-A36F-DE6D-4A2D-DF502DAD9C50}"/>
              </a:ext>
            </a:extLst>
          </p:cNvPr>
          <p:cNvSpPr/>
          <p:nvPr/>
        </p:nvSpPr>
        <p:spPr>
          <a:xfrm>
            <a:off x="8162224" y="-1966676"/>
            <a:ext cx="6400800" cy="6400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9B51F0EF-357D-99F6-79FA-542903488D82}"/>
              </a:ext>
            </a:extLst>
          </p:cNvPr>
          <p:cNvSpPr/>
          <p:nvPr/>
        </p:nvSpPr>
        <p:spPr>
          <a:xfrm>
            <a:off x="2769242" y="1522761"/>
            <a:ext cx="6400800" cy="6400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259503" y="4962043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58472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326685" y="292655"/>
            <a:ext cx="46501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LEARNFLASH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3386229" y="1136448"/>
            <a:ext cx="600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học từ vựng bằng Flashcard thông minh</a:t>
            </a:r>
            <a:endParaRPr lang="en-US" sz="2200" b="1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3566161" y="2810577"/>
            <a:ext cx="5693342" cy="3599848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386229" y="1973024"/>
            <a:ext cx="6293731" cy="354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phần: Lập trình trên 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di động</a:t>
            </a:r>
            <a:endParaRPr lang="en-US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701836" y="2966874"/>
            <a:ext cx="3662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Lớp K9.CT1B – Nhóm 3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4208" y="358434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Minh Hoàng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7983301" y="3539227"/>
            <a:ext cx="904240" cy="457200"/>
          </a:xfrm>
          <a:prstGeom prst="roundRect">
            <a:avLst>
              <a:gd name="adj" fmla="val 18750"/>
            </a:avLst>
          </a:prstGeom>
          <a:solidFill>
            <a:srgbClr val="FFE3CC"/>
          </a:solidFill>
          <a:ln/>
        </p:spPr>
      </p:sp>
      <p:sp>
        <p:nvSpPr>
          <p:cNvPr id="13" name="Text 10"/>
          <p:cNvSpPr/>
          <p:nvPr/>
        </p:nvSpPr>
        <p:spPr>
          <a:xfrm>
            <a:off x="8054556" y="361884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031963" y="4265961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Quỳnh Anh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7991056" y="4239130"/>
            <a:ext cx="904240" cy="457200"/>
          </a:xfrm>
          <a:prstGeom prst="roundRect">
            <a:avLst>
              <a:gd name="adj" fmla="val 18750"/>
            </a:avLst>
          </a:prstGeom>
          <a:solidFill>
            <a:srgbClr val="FFE3CC"/>
          </a:solidFill>
          <a:ln/>
        </p:spPr>
      </p:sp>
      <p:sp>
        <p:nvSpPr>
          <p:cNvPr id="17" name="Text 14"/>
          <p:cNvSpPr/>
          <p:nvPr/>
        </p:nvSpPr>
        <p:spPr>
          <a:xfrm>
            <a:off x="8046801" y="4317893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000" b="1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000" b="1" dirty="0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31963" y="492486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Tiến Đạt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7991056" y="4879747"/>
            <a:ext cx="904240" cy="457200"/>
          </a:xfrm>
          <a:prstGeom prst="roundRect">
            <a:avLst>
              <a:gd name="adj" fmla="val 18750"/>
            </a:avLst>
          </a:prstGeom>
          <a:solidFill>
            <a:srgbClr val="FFE3CC"/>
          </a:solidFill>
          <a:ln/>
        </p:spPr>
      </p:sp>
      <p:sp>
        <p:nvSpPr>
          <p:cNvPr id="21" name="Text 18"/>
          <p:cNvSpPr/>
          <p:nvPr/>
        </p:nvSpPr>
        <p:spPr>
          <a:xfrm>
            <a:off x="8054556" y="4962043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0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A34210D1-8428-4BEF-F9B3-C25B3C28DD39}"/>
              </a:ext>
            </a:extLst>
          </p:cNvPr>
          <p:cNvSpPr/>
          <p:nvPr/>
        </p:nvSpPr>
        <p:spPr>
          <a:xfrm>
            <a:off x="4024208" y="55840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Dương Xuân Dũng</a:t>
            </a:r>
            <a:endParaRPr lang="en-US" sz="25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0CD79EC-2BD1-AF26-DD81-07325A8A7752}"/>
              </a:ext>
            </a:extLst>
          </p:cNvPr>
          <p:cNvSpPr/>
          <p:nvPr/>
        </p:nvSpPr>
        <p:spPr>
          <a:xfrm>
            <a:off x="7983301" y="5520543"/>
            <a:ext cx="904240" cy="457200"/>
          </a:xfrm>
          <a:prstGeom prst="roundRect">
            <a:avLst>
              <a:gd name="adj" fmla="val 18750"/>
            </a:avLst>
          </a:prstGeom>
          <a:solidFill>
            <a:srgbClr val="FFE3CC"/>
          </a:solidFill>
          <a:ln/>
        </p:spPr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175B7E19-B386-DC67-0382-A01456501470}"/>
              </a:ext>
            </a:extLst>
          </p:cNvPr>
          <p:cNvSpPr/>
          <p:nvPr/>
        </p:nvSpPr>
        <p:spPr>
          <a:xfrm>
            <a:off x="8049473" y="5602839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000" b="1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2000" b="1" dirty="0">
                <a:solidFill>
                  <a:srgbClr val="C1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2000" dirty="0"/>
          </a:p>
        </p:txBody>
      </p:sp>
      <p:sp>
        <p:nvSpPr>
          <p:cNvPr id="32" name="Shape 0">
            <a:extLst>
              <a:ext uri="{FF2B5EF4-FFF2-40B4-BE49-F238E27FC236}">
                <a16:creationId xmlns:a16="http://schemas.microsoft.com/office/drawing/2014/main" id="{0C0D0D6D-3E71-3CE8-A9F6-C48117F7C919}"/>
              </a:ext>
            </a:extLst>
          </p:cNvPr>
          <p:cNvSpPr/>
          <p:nvPr/>
        </p:nvSpPr>
        <p:spPr>
          <a:xfrm>
            <a:off x="-4206159" y="3618846"/>
            <a:ext cx="6400800" cy="6400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1" name="Freeform 6">
            <a:extLst>
              <a:ext uri="{FF2B5EF4-FFF2-40B4-BE49-F238E27FC236}">
                <a16:creationId xmlns:a16="http://schemas.microsoft.com/office/drawing/2014/main" id="{6DB9CEFC-2AE8-5660-81D3-5D606A4BFF05}"/>
              </a:ext>
            </a:extLst>
          </p:cNvPr>
          <p:cNvSpPr/>
          <p:nvPr/>
        </p:nvSpPr>
        <p:spPr>
          <a:xfrm>
            <a:off x="3244154" y="1352023"/>
            <a:ext cx="6146635" cy="396542"/>
          </a:xfrm>
          <a:custGeom>
            <a:avLst/>
            <a:gdLst/>
            <a:ahLst/>
            <a:cxnLst/>
            <a:rect l="l" t="t" r="r" b="b"/>
            <a:pathLst>
              <a:path w="1307051" h="214271">
                <a:moveTo>
                  <a:pt x="0" y="0"/>
                </a:moveTo>
                <a:lnTo>
                  <a:pt x="1307050" y="0"/>
                </a:lnTo>
                <a:lnTo>
                  <a:pt x="1307050" y="214271"/>
                </a:lnTo>
                <a:lnTo>
                  <a:pt x="0" y="21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2005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đề tài</a:t>
            </a:r>
            <a:endParaRPr lang="en-US" sz="3600" dirty="0">
              <a:solidFill>
                <a:srgbClr val="FF5A00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44243"/>
            <a:ext cx="5486400" cy="3780756"/>
          </a:xfrm>
          <a:prstGeom prst="roundRect">
            <a:avLst>
              <a:gd name="adj" fmla="val 2308"/>
            </a:avLst>
          </a:prstGeom>
          <a:solidFill>
            <a:srgbClr val="FFE3CC"/>
          </a:solidFill>
          <a:ln/>
        </p:spPr>
      </p:sp>
      <p:sp>
        <p:nvSpPr>
          <p:cNvPr id="5" name="Text 2"/>
          <p:cNvSpPr/>
          <p:nvPr/>
        </p:nvSpPr>
        <p:spPr>
          <a:xfrm>
            <a:off x="1440180" y="2081403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 thực tế</a:t>
            </a:r>
            <a:endParaRPr lang="en-US" sz="3000" dirty="0">
              <a:solidFill>
                <a:srgbClr val="FF5A00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24840" y="2786253"/>
            <a:ext cx="56388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/>
              <a:t>• Học truyền thống thiếu hệ thống.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/>
              <a:t>• Từ vựng nhanh quên, dễ nản.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/>
              <a:t>• Khó duy trì động lực học.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800"/>
              <a:t>• Ghi chép thủ công tốn thời gian.</a:t>
            </a:r>
          </a:p>
        </p:txBody>
      </p:sp>
      <p:sp>
        <p:nvSpPr>
          <p:cNvPr id="7" name="Shape 4"/>
          <p:cNvSpPr/>
          <p:nvPr/>
        </p:nvSpPr>
        <p:spPr>
          <a:xfrm>
            <a:off x="6156962" y="1944243"/>
            <a:ext cx="5615941" cy="3780756"/>
          </a:xfrm>
          <a:prstGeom prst="roundRect">
            <a:avLst>
              <a:gd name="adj" fmla="val 2308"/>
            </a:avLst>
          </a:prstGeom>
          <a:solidFill>
            <a:srgbClr val="F4731C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071363" y="2074257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pháp: LearnFlash</a:t>
            </a:r>
            <a:endParaRPr lang="en-US" sz="3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9DF679-C074-56B4-869A-97C81E581744}"/>
              </a:ext>
            </a:extLst>
          </p:cNvPr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40ECA3-7FCE-33BA-81FE-41A308E5DAD7}"/>
              </a:ext>
            </a:extLst>
          </p:cNvPr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8" name="Picture 4" descr="Spam icon">
            <a:extLst>
              <a:ext uri="{FF2B5EF4-FFF2-40B4-BE49-F238E27FC236}">
                <a16:creationId xmlns:a16="http://schemas.microsoft.com/office/drawing/2014/main" id="{413C1659-AE77-C1CB-3FE9-893DBAFAD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" y="2089023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hield icon">
            <a:extLst>
              <a:ext uri="{FF2B5EF4-FFF2-40B4-BE49-F238E27FC236}">
                <a16:creationId xmlns:a16="http://schemas.microsoft.com/office/drawing/2014/main" id="{C75DF6CB-18BC-DF29-CF3F-1CE854DDA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8443" y="2097117"/>
            <a:ext cx="502920" cy="50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FE7F0D0-86C3-D21E-6DBC-50D6467F4D49}"/>
              </a:ext>
            </a:extLst>
          </p:cNvPr>
          <p:cNvSpPr txBox="1"/>
          <p:nvPr/>
        </p:nvSpPr>
        <p:spPr>
          <a:xfrm>
            <a:off x="6202683" y="2754342"/>
            <a:ext cx="6096000" cy="284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FFFFFF"/>
                </a:solidFill>
                <a:effectLst/>
                <a:latin typeface="Calibri (Body)"/>
              </a:rPr>
              <a:t> </a:t>
            </a:r>
            <a:r>
              <a:rPr lang="vi-VN" sz="2800" b="0" i="0">
                <a:solidFill>
                  <a:srgbClr val="FFFFFF"/>
                </a:solidFill>
                <a:effectLst/>
                <a:latin typeface="Calibri (Body)"/>
              </a:rPr>
              <a:t>Áp dụng thuật toán lặp ngắt quãng.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FFFFFF"/>
                </a:solidFill>
                <a:effectLst/>
                <a:latin typeface="Calibri (Body)"/>
              </a:rPr>
              <a:t> </a:t>
            </a:r>
            <a:r>
              <a:rPr lang="vi-VN" sz="2800" b="0" i="0">
                <a:solidFill>
                  <a:srgbClr val="FFFFFF"/>
                </a:solidFill>
                <a:effectLst/>
                <a:latin typeface="Calibri (Body)"/>
              </a:rPr>
              <a:t>Cá nhân hóa lộ trình ôn tập.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FFFFFF"/>
                </a:solidFill>
                <a:effectLst/>
                <a:latin typeface="Calibri (Body)"/>
              </a:rPr>
              <a:t> </a:t>
            </a:r>
            <a:r>
              <a:rPr lang="vi-VN" sz="2800" b="0" i="0">
                <a:solidFill>
                  <a:srgbClr val="FFFFFF"/>
                </a:solidFill>
                <a:effectLst/>
                <a:latin typeface="Calibri (Body)"/>
              </a:rPr>
              <a:t>Tối ưu hóa ghi nhớ dài hạn.</a:t>
            </a:r>
          </a:p>
          <a:p>
            <a:pPr algn="l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0" i="0">
                <a:solidFill>
                  <a:srgbClr val="FFFFFF"/>
                </a:solidFill>
                <a:effectLst/>
                <a:latin typeface="Calibri (Body)"/>
              </a:rPr>
              <a:t> </a:t>
            </a:r>
            <a:r>
              <a:rPr lang="vi-VN" sz="2800" b="0" i="0">
                <a:solidFill>
                  <a:srgbClr val="FFFFFF"/>
                </a:solidFill>
                <a:effectLst/>
                <a:latin typeface="Calibri (Body)"/>
              </a:rPr>
              <a:t>Học tập mọi lúc, mọi nơi.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1980" y="1310640"/>
            <a:ext cx="10599420" cy="7330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Áp dụng mô hình </a:t>
            </a:r>
            <a:r>
              <a:rPr lang="en-US" sz="2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MVVM</a:t>
            </a:r>
            <a:r>
              <a:rPr lang="en-US" sz="2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kết hợp </a:t>
            </a:r>
            <a:r>
              <a:rPr lang="en-US" sz="2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Pattern</a:t>
            </a:r>
            <a:r>
              <a:rPr lang="en-US" sz="2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- tách biệt rõ ràng giữa </a:t>
            </a:r>
            <a:r>
              <a:rPr lang="en-US" sz="2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</a:t>
            </a:r>
            <a:r>
              <a:rPr lang="en-US" sz="2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xử lý logic </a:t>
            </a:r>
            <a:r>
              <a:rPr lang="en-US" sz="2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và </a:t>
            </a:r>
            <a:r>
              <a:rPr lang="en-US" sz="2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nguồn dữ liệu</a:t>
            </a:r>
            <a:r>
              <a:rPr lang="en-US" sz="2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5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0AAC60-A70D-7F52-BF5F-40078A1DD8F4}"/>
              </a:ext>
            </a:extLst>
          </p:cNvPr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99BF7E-1FB8-3076-D0DB-65CA49C1A0CB}"/>
              </a:ext>
            </a:extLst>
          </p:cNvPr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6667E7DF-DEE3-BA5E-94FB-61A6A1CBAEF3}"/>
              </a:ext>
            </a:extLst>
          </p:cNvPr>
          <p:cNvSpPr/>
          <p:nvPr/>
        </p:nvSpPr>
        <p:spPr>
          <a:xfrm>
            <a:off x="802005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&amp; Công nghệ sử dụng</a:t>
            </a:r>
            <a:endParaRPr lang="en-US" sz="3600" dirty="0">
              <a:solidFill>
                <a:srgbClr val="FF5A00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53FA53A-734B-2744-DE25-B1DD06AD6E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3" b="4230"/>
          <a:stretch>
            <a:fillRect/>
          </a:stretch>
        </p:blipFill>
        <p:spPr>
          <a:xfrm>
            <a:off x="802005" y="2043685"/>
            <a:ext cx="10599420" cy="481458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A01A3A70-FE5A-D86A-0583-D5910757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2" y="0"/>
            <a:ext cx="12164576" cy="6858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FC12C57-0CC9-86C4-BE3F-5B038E765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575" y="1507406"/>
            <a:ext cx="7690962" cy="454803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652246-B931-829F-8F94-FE853C900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7223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3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60E1DF76-5BB3-3DA4-0FAF-7DD2A6D4E544}"/>
              </a:ext>
            </a:extLst>
          </p:cNvPr>
          <p:cNvSpPr/>
          <p:nvPr/>
        </p:nvSpPr>
        <p:spPr>
          <a:xfrm>
            <a:off x="603504" y="1944242"/>
            <a:ext cx="6334982" cy="4104133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A7F7D513-EB34-06C8-8543-AF366FC4AB65}"/>
              </a:ext>
            </a:extLst>
          </p:cNvPr>
          <p:cNvSpPr/>
          <p:nvPr/>
        </p:nvSpPr>
        <p:spPr>
          <a:xfrm>
            <a:off x="7233760" y="1944243"/>
            <a:ext cx="4611529" cy="2675382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DB6650-F5C4-ECFF-FDF8-8152E8D6CC70}"/>
              </a:ext>
            </a:extLst>
          </p:cNvPr>
          <p:cNvSpPr/>
          <p:nvPr/>
        </p:nvSpPr>
        <p:spPr>
          <a:xfrm>
            <a:off x="548640" y="365760"/>
            <a:ext cx="109728" cy="73152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9EC441-4FA0-CF08-02F2-E5EF88D3DB54}"/>
              </a:ext>
            </a:extLst>
          </p:cNvPr>
          <p:cNvSpPr/>
          <p:nvPr/>
        </p:nvSpPr>
        <p:spPr>
          <a:xfrm>
            <a:off x="548640" y="1143000"/>
            <a:ext cx="1109441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1A0200AD-15E9-6657-B89C-0BBA18403248}"/>
              </a:ext>
            </a:extLst>
          </p:cNvPr>
          <p:cNvSpPr/>
          <p:nvPr/>
        </p:nvSpPr>
        <p:spPr>
          <a:xfrm>
            <a:off x="802005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3600" dirty="0">
              <a:solidFill>
                <a:srgbClr val="FF5A00"/>
              </a:solidFill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D574E183-7D12-C700-D2FF-6B4075214BE0}"/>
              </a:ext>
            </a:extLst>
          </p:cNvPr>
          <p:cNvSpPr/>
          <p:nvPr/>
        </p:nvSpPr>
        <p:spPr>
          <a:xfrm>
            <a:off x="7829615" y="1946529"/>
            <a:ext cx="39147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3600" dirty="0">
              <a:solidFill>
                <a:srgbClr val="FF5A00"/>
              </a:solidFill>
            </a:endParaRP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A675FB1E-C68F-8723-B184-6DF4C76FA8EB}"/>
              </a:ext>
            </a:extLst>
          </p:cNvPr>
          <p:cNvSpPr/>
          <p:nvPr/>
        </p:nvSpPr>
        <p:spPr>
          <a:xfrm>
            <a:off x="2378392" y="1945386"/>
            <a:ext cx="1826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</a:t>
            </a:r>
            <a:endParaRPr lang="en-US" sz="3600" dirty="0">
              <a:solidFill>
                <a:srgbClr val="FF5A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FE72D7-87B8-313D-7290-DC38EAB43A9D}"/>
              </a:ext>
            </a:extLst>
          </p:cNvPr>
          <p:cNvCxnSpPr>
            <a:cxnSpLocks/>
          </p:cNvCxnSpPr>
          <p:nvPr/>
        </p:nvCxnSpPr>
        <p:spPr>
          <a:xfrm>
            <a:off x="7434866" y="2750151"/>
            <a:ext cx="41151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E0BE0E-28DD-D59E-A924-CEBF9E32DD88}"/>
              </a:ext>
            </a:extLst>
          </p:cNvPr>
          <p:cNvCxnSpPr>
            <a:cxnSpLocks/>
          </p:cNvCxnSpPr>
          <p:nvPr/>
        </p:nvCxnSpPr>
        <p:spPr>
          <a:xfrm>
            <a:off x="898779" y="2732625"/>
            <a:ext cx="5663946" cy="1752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 4">
            <a:extLst>
              <a:ext uri="{FF2B5EF4-FFF2-40B4-BE49-F238E27FC236}">
                <a16:creationId xmlns:a16="http://schemas.microsoft.com/office/drawing/2014/main" id="{7A0972AC-3DF3-187B-DAA4-7EA751AA9073}"/>
              </a:ext>
            </a:extLst>
          </p:cNvPr>
          <p:cNvSpPr/>
          <p:nvPr/>
        </p:nvSpPr>
        <p:spPr>
          <a:xfrm>
            <a:off x="658369" y="2589323"/>
            <a:ext cx="6280118" cy="3572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Hoàn thiện đầy đủ kiến trúc MVVM.</a:t>
            </a:r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Tích hợp API giúp thêm từ vựng nhanh chóng.</a:t>
            </a:r>
            <a:endParaRPr lang="en-US" sz="2400"/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Triển khai thuật toán SRS giúp ôn tập khoa học, kèm thống kê tiến độ học chi tiết.</a:t>
            </a:r>
            <a:endParaRPr lang="en-US" sz="2400"/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Giao diện Jetpack Compose hiện đại, hỗ trợ Dark Mode, hoạt động ổn định offline-first.</a:t>
            </a:r>
            <a:endParaRPr lang="en-US" sz="24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8ADCD24C-BADF-E581-3D5B-9947FDB31ADF}"/>
              </a:ext>
            </a:extLst>
          </p:cNvPr>
          <p:cNvSpPr/>
          <p:nvPr/>
        </p:nvSpPr>
        <p:spPr>
          <a:xfrm>
            <a:off x="7287228" y="2977706"/>
            <a:ext cx="4410423" cy="1489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đăng nhập </a:t>
            </a: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dùng.</a:t>
            </a:r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vi-VN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Bổ sung phát âm âm thanh</a:t>
            </a: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10000"/>
              </a:lnSpc>
              <a:spcBef>
                <a:spcPts val="600"/>
              </a:spcBef>
              <a:buSzPct val="100000"/>
              <a:buChar char="•"/>
            </a:pPr>
            <a:r>
              <a:rPr lang="en-US" sz="2400">
                <a:solidFill>
                  <a:srgbClr val="332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Phát triển đa nền tảng.</a:t>
            </a:r>
          </a:p>
        </p:txBody>
      </p:sp>
    </p:spTree>
    <p:extLst>
      <p:ext uri="{BB962C8B-B14F-4D97-AF65-F5344CB8AC3E}">
        <p14:creationId xmlns:p14="http://schemas.microsoft.com/office/powerpoint/2010/main" val="138693889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260</Words>
  <Application>Microsoft Office PowerPoint</Application>
  <PresentationFormat>Widescreen</PresentationFormat>
  <Paragraphs>39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(Body)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LearnFlash - Hoc tu vung Flashcard</dc:title>
  <dc:subject>PptxGenJS Presentation</dc:subject>
  <dc:creator>Nhom 3 - CNTTK1B</dc:creator>
  <cp:lastModifiedBy>le hoang</cp:lastModifiedBy>
  <cp:revision>5</cp:revision>
  <dcterms:created xsi:type="dcterms:W3CDTF">2026-06-12T13:38:35Z</dcterms:created>
  <dcterms:modified xsi:type="dcterms:W3CDTF">2026-06-12T15:55:32Z</dcterms:modified>
</cp:coreProperties>
</file>